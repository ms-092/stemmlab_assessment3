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Inter"/>
      <p:bold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boldItalic.fntdata"/><Relationship Id="rId14" Type="http://schemas.openxmlformats.org/officeDocument/2006/relationships/font" Target="fonts/Inter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287" y="-14287"/>
            <a:ext cx="91725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900113" y="1152348"/>
            <a:ext cx="7315200" cy="28102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00113" y="1152348"/>
            <a:ext cx="7315200" cy="5715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900113" y="1915864"/>
            <a:ext cx="7315200" cy="553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300"/>
              <a:buFont typeface="Inter"/>
              <a:buNone/>
            </a:pPr>
            <a:r>
              <a:rPr b="1" lang="en-US" sz="3300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Assessment 3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00113" y="2612380"/>
            <a:ext cx="7315200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Feature Implementation &amp; Analysis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902023" y="3174950"/>
            <a:ext cx="1505545" cy="330398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902023" y="3174950"/>
            <a:ext cx="1505545" cy="3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170050" spcFirstLastPara="1" rIns="170050" wrap="square" tIns="85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Charts Integration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686175" y="3174950"/>
            <a:ext cx="1894880" cy="330398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859661" y="3174950"/>
            <a:ext cx="1339453" cy="330398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3723413" y="3175875"/>
            <a:ext cx="1820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170050" spcFirstLastPara="1" rIns="170050" wrap="square" tIns="85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Sound Pollution Hunter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859650" y="3174950"/>
            <a:ext cx="18948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170050" spcFirstLastPara="1" rIns="170050" wrap="square" tIns="85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Multi-</a:t>
            </a:r>
            <a:r>
              <a:rPr lang="en-US" sz="10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language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571500" y="618353"/>
            <a:ext cx="8572500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Enhancing Educational Impact through Technology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71500" y="1180923"/>
            <a:ext cx="385762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Core Goal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71500" y="1530967"/>
            <a:ext cx="38576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The Sound Pollution Hunter app is an interactive platform where students collect, visualize, and analyze environmental sound data.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71500" y="2359642"/>
            <a:ext cx="385762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Primary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71500" y="2709686"/>
            <a:ext cx="3857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Dynamic charts for pattern identification and multi-language support for global accessibility.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714875" y="1180923"/>
            <a:ext cx="3857625" cy="27432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886325" y="1495248"/>
            <a:ext cx="35147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Transformational Impact:</a:t>
            </a: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These features evolve the app from a simple data entry tool into a comprehensive educational platform.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886325" y="3415798"/>
            <a:ext cx="35148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Inter"/>
              <a:buNone/>
            </a:pPr>
            <a:r>
              <a:rPr b="0" i="1" lang="en-US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"Visualizing data is the </a:t>
            </a:r>
            <a:r>
              <a:rPr i="1" lang="en-US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another</a:t>
            </a:r>
            <a:r>
              <a:rPr b="0" i="1" lang="en-US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step toward scientific understanding."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571500" y="618353"/>
            <a:ext cx="8572500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Technical Foundation: Installation &amp; Setup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1599125" y="1123775"/>
            <a:ext cx="3062700" cy="37716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109700" lIns="109700" spcFirstLastPara="1" rIns="109700" wrap="square" tIns="109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1736263" y="1295198"/>
            <a:ext cx="278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075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320"/>
              <a:buFont typeface="Inter"/>
              <a:buNone/>
            </a:pPr>
            <a:r>
              <a:rPr b="1" i="0" lang="en-US" sz="1320" u="none" cap="none" strike="noStrike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NPM Ecosystem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1736263" y="1788038"/>
            <a:ext cx="27885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40"/>
              <a:buFont typeface="Inter"/>
              <a:buNone/>
            </a:pPr>
            <a:r>
              <a:rPr b="0" i="0" lang="en-US" sz="114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Extending base functionality with industry-standard libraries.</a:t>
            </a:r>
            <a:r>
              <a:rPr lang="en-US" sz="114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Main ones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1736263" y="2263759"/>
            <a:ext cx="2788500" cy="16632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txBody>
          <a:bodyPr anchorCtr="0" anchor="ctr" bIns="109700" lIns="109700" spcFirstLastPara="1" rIns="109700" wrap="square" tIns="109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1736263" y="2263735"/>
            <a:ext cx="2788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075" lIns="122500" spcFirstLastPara="1" rIns="122500" wrap="square" tIns="102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npm install recharts</a:t>
            </a:r>
            <a:br>
              <a:rPr b="0" i="0" lang="en-US" sz="9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npm install i18n-js</a:t>
            </a:r>
            <a:br>
              <a:rPr b="0" i="0" lang="en-US" sz="9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npm install expo-localization</a:t>
            </a:r>
            <a:endParaRPr b="0" i="0" sz="900" u="none" cap="none" strike="noStrike">
              <a:solidFill>
                <a:srgbClr val="A0AE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A0AEC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0AEC0"/>
                </a:solidFill>
              </a:rPr>
              <a:t>–</a:t>
            </a:r>
            <a:endParaRPr sz="900">
              <a:solidFill>
                <a:srgbClr val="A0AEC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A0AEC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0AEC0"/>
                </a:solidFill>
              </a:rPr>
              <a:t>Clone the Github Project</a:t>
            </a:r>
            <a:endParaRPr sz="900">
              <a:solidFill>
                <a:srgbClr val="A0AEC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0AEC0"/>
                </a:solidFill>
              </a:rPr>
              <a:t>cd [Github-project]</a:t>
            </a:r>
            <a:endParaRPr sz="900">
              <a:solidFill>
                <a:srgbClr val="A0AEC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A0AEC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0AEC0"/>
                </a:solidFill>
              </a:rPr>
              <a:t>npm i</a:t>
            </a:r>
            <a:endParaRPr sz="900">
              <a:solidFill>
                <a:srgbClr val="A0AEC0"/>
              </a:solidFill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867573" y="1123775"/>
            <a:ext cx="3062700" cy="37716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109700" lIns="109700" spcFirstLastPara="1" rIns="109700" wrap="square" tIns="109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5004711" y="1295198"/>
            <a:ext cx="278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075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320"/>
              <a:buFont typeface="Inter"/>
              <a:buNone/>
            </a:pPr>
            <a:r>
              <a:rPr b="1" i="0" lang="en-US" sz="1320" u="none" cap="none" strike="noStrike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Key Libraries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004711" y="1753754"/>
            <a:ext cx="27885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Recharts:</a:t>
            </a:r>
            <a:r>
              <a:rPr b="0" i="0" lang="en-US" sz="114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High-quality data visualization.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004711" y="2315965"/>
            <a:ext cx="27885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i18n-js:</a:t>
            </a:r>
            <a:r>
              <a:rPr b="0" i="0" lang="en-US" sz="114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Robust translation management.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004711" y="2878178"/>
            <a:ext cx="27885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Expo Localization:</a:t>
            </a:r>
            <a:r>
              <a:rPr b="0" i="0" lang="en-US" sz="114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Native locale detection.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2" name="Google Shape;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6"/>
          <p:cNvSpPr/>
          <p:nvPr/>
        </p:nvSpPr>
        <p:spPr>
          <a:xfrm>
            <a:off x="457200" y="618353"/>
            <a:ext cx="8686800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600"/>
              <a:buFont typeface="Inter"/>
              <a:buNone/>
            </a:pPr>
            <a:r>
              <a:rPr b="1" lang="en-US" sz="1600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Charts implementation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457200" y="1266648"/>
            <a:ext cx="397192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Technical 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457200" y="1602405"/>
            <a:ext cx="3971925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2575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Reusable components accepting dynamic JSON data.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57200" y="1865272"/>
            <a:ext cx="3971925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2575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Real-time rendering in the </a:t>
            </a:r>
            <a:r>
              <a:rPr b="1" i="0" lang="en-US" sz="9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Journal Tab</a:t>
            </a:r>
            <a:r>
              <a:rPr b="0" i="0" lang="en-US" sz="9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57200" y="2128140"/>
            <a:ext cx="3971925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2575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Optimized for mobile-responsive layouts.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57200" y="2462445"/>
            <a:ext cx="397192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Educational Value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457200" y="1602405"/>
            <a:ext cx="128588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57200" y="1865272"/>
            <a:ext cx="128588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57200" y="2128140"/>
            <a:ext cx="128588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57200" y="2798201"/>
            <a:ext cx="3971925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2575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Measured decibel intensity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457200" y="3061069"/>
            <a:ext cx="3971925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2575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Visual pattern identification for students.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57200" y="3323937"/>
            <a:ext cx="3971925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2575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Development of scientific analysis skills.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457200" y="2798201"/>
            <a:ext cx="128588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457200" y="3061069"/>
            <a:ext cx="128588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457200" y="3323937"/>
            <a:ext cx="128588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829175" y="3352623"/>
            <a:ext cx="3743325" cy="105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600"/>
              <a:buFont typeface="Inter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9941" y="2128153"/>
            <a:ext cx="5204134" cy="148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5" name="Google Shape;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"/>
          <p:cNvSpPr/>
          <p:nvPr/>
        </p:nvSpPr>
        <p:spPr>
          <a:xfrm>
            <a:off x="571500" y="618353"/>
            <a:ext cx="8572500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Accessibility: Multi-language Support (i18n)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571500" y="1180923"/>
            <a:ext cx="3786188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Technical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857250" y="1530967"/>
            <a:ext cx="35004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2575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Uses static JSON files for different locales.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857250" y="1845292"/>
            <a:ext cx="35004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2575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Managed through a central translation hook.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857250" y="2159617"/>
            <a:ext cx="35004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2575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Follows industry-standard i18n best practices.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857250" y="1530967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CC94B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ECC94B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857250" y="1845292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CC94B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ECC94B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857250" y="2159617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CC94B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ECC94B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571500" y="2602530"/>
            <a:ext cx="3786188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Accessibility Impact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571500" y="2952573"/>
            <a:ext cx="37861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Directly addresses barriers for non-native speakers, making the app inclusive for a global student body.</a:t>
            </a:r>
            <a:endParaRPr b="0" i="0" sz="105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Current implementation: English &amp; Indonesian</a:t>
            </a:r>
            <a:endParaRPr sz="105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571500" y="3624086"/>
            <a:ext cx="1219795" cy="269677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571500" y="3624086"/>
            <a:ext cx="1219795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36000" spcFirstLastPara="1" rIns="136000" wrap="square" tIns="68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rPr>
              <a:t>Inclusive Design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1894880" y="3624086"/>
            <a:ext cx="1028700" cy="269677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1894880" y="3624086"/>
            <a:ext cx="1028700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36000" spcFirstLastPara="1" rIns="136000" wrap="square" tIns="68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rPr>
              <a:t>Global Reach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786313" y="1180923"/>
            <a:ext cx="3786188" cy="314325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5072063" y="1466673"/>
            <a:ext cx="3214688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Dynamic UI Updates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5072063" y="1798858"/>
            <a:ext cx="32146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The translation system ensures a seamless user experience: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5357813" y="2398933"/>
            <a:ext cx="29289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2575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Instant language switching in Settings.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357813" y="2713258"/>
            <a:ext cx="29289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2575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No app restart required for text updates.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5357813" y="3027583"/>
            <a:ext cx="29289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2575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Zero latency using local resources.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072063" y="3470495"/>
            <a:ext cx="3214688" cy="310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Inter"/>
              <a:buNone/>
            </a:pPr>
            <a:r>
              <a:rPr b="0" i="1" lang="en-US" sz="950" u="none" cap="none" strike="noStrike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rPr>
              <a:t>"Accessibility is not a feature, it's a fundamental requirement."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357813" y="2398933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CC94B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ECC94B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357813" y="2713258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CC94B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ECC94B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357813" y="3027583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CC94B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ECC94B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/>
          <p:nvPr/>
        </p:nvSpPr>
        <p:spPr>
          <a:xfrm>
            <a:off x="428625" y="561203"/>
            <a:ext cx="8715375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Technical Feasibility Analysis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285750" y="980898"/>
            <a:ext cx="4200525" cy="2453878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371475" y="1066623"/>
            <a:ext cx="402907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Implementation Strengths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414338" y="1359517"/>
            <a:ext cx="3943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1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High Feasibility:</a:t>
            </a: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Reliance on established, well-documented libraries with strong community support.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414338" y="1845292"/>
            <a:ext cx="3943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1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Efficient Translation:</a:t>
            </a: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System is lightweight, using local JSON resources for zero-latency UI updates.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14338" y="2331067"/>
            <a:ext cx="3943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1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Modular Charts:</a:t>
            </a: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Reusable component structure allows for easy scaling across different experiment types.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57688" y="980836"/>
            <a:ext cx="4200600" cy="2454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414338" y="1359517"/>
            <a:ext cx="14287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414338" y="1845292"/>
            <a:ext cx="14287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414338" y="2331067"/>
            <a:ext cx="14287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4743450" y="1066623"/>
            <a:ext cx="402907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C94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CC94B"/>
                </a:solidFill>
                <a:latin typeface="Inter"/>
                <a:ea typeface="Inter"/>
                <a:cs typeface="Inter"/>
                <a:sym typeface="Inter"/>
              </a:rPr>
              <a:t>Technical Challenges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4786313" y="1359517"/>
            <a:ext cx="39433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1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Platform Adaptation:</a:t>
            </a: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Recharts is web-centric; adapting it for React Native requires specific configuration.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4786313" y="1845255"/>
            <a:ext cx="39432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1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Rendering Complexity:</a:t>
            </a: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Ensuring consistent visual behavior across iOS and Android environments.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4786313" y="2316743"/>
            <a:ext cx="39432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1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Data Handling:</a:t>
            </a: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Managing manual inputs vs. automated library expectations for precise rendering.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743450" y="3059730"/>
            <a:ext cx="40290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8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Inter"/>
              <a:buNone/>
            </a:pPr>
            <a:r>
              <a:rPr b="0" i="1" lang="en-US" sz="9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"Feasibility is high, but requires careful cross-platform optimization."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786313" y="1359517"/>
            <a:ext cx="14287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4786313" y="1917430"/>
            <a:ext cx="142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4786326" y="2302505"/>
            <a:ext cx="142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8" name="Google Shape;1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9"/>
          <p:cNvSpPr/>
          <p:nvPr/>
        </p:nvSpPr>
        <p:spPr>
          <a:xfrm>
            <a:off x="428625" y="618353"/>
            <a:ext cx="8715375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Performance and Compatibility Insights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285750" y="1009473"/>
            <a:ext cx="2781291" cy="25146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371475" y="1095198"/>
            <a:ext cx="2609841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Minimal Impact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371475" y="1420239"/>
            <a:ext cx="2609841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705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Translation Overhead:</a:t>
            </a:r>
            <a:r>
              <a:rPr b="0" i="0" lang="en-US" sz="9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Negligible impact as static resources are loaded locally.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371475" y="2094542"/>
            <a:ext cx="2609841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705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Zero Latency:</a:t>
            </a:r>
            <a:r>
              <a:rPr b="0" i="0" lang="en-US" sz="9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Instant UI updates without network requests.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3181341" y="1009473"/>
            <a:ext cx="2781291" cy="25146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371475" y="1420239"/>
            <a:ext cx="60722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371475" y="2094542"/>
            <a:ext cx="60722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3267066" y="1095198"/>
            <a:ext cx="2609841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Scalability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3267066" y="1420239"/>
            <a:ext cx="2609841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705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Efficient Rendering:</a:t>
            </a:r>
            <a:r>
              <a:rPr b="0" i="0" lang="en-US" sz="9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Optimized for small-to-medium datasets typical of student experiments.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3267066" y="2094542"/>
            <a:ext cx="2609841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705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Future-Proofing:</a:t>
            </a:r>
            <a:r>
              <a:rPr b="0" i="0" lang="en-US" sz="9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Large data inputs would require sampling to maintain smooth UI performance.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6076931" y="1009473"/>
            <a:ext cx="2781319" cy="25146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3267066" y="1420239"/>
            <a:ext cx="60722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3267066" y="2094542"/>
            <a:ext cx="60722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162656" y="1095198"/>
            <a:ext cx="2609869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Platform Parity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162656" y="1420239"/>
            <a:ext cx="2609869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705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Expo Support:</a:t>
            </a:r>
            <a:r>
              <a:rPr b="0" i="0" lang="en-US" sz="9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Strong cross-platform consistency across iOS and Android.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6162656" y="1888824"/>
            <a:ext cx="2609869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705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Visual Adjustments:</a:t>
            </a:r>
            <a:r>
              <a:rPr b="0" i="0" lang="en-US" sz="9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Minor CSS/style tweaks needed for chart libraries between platforms.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6162656" y="2577415"/>
            <a:ext cx="2609869" cy="275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50"/>
              <a:buFont typeface="Inter"/>
              <a:buNone/>
            </a:pPr>
            <a:r>
              <a:rPr b="0" i="1" lang="en-US" sz="850" u="none" cap="none" strike="noStrike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rPr>
              <a:t>"Consistent performance is key to a reliable educational experience."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6162656" y="1420239"/>
            <a:ext cx="60722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162656" y="1888824"/>
            <a:ext cx="60722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4" name="Google Shape;16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7144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0"/>
          <p:cNvSpPr/>
          <p:nvPr/>
        </p:nvSpPr>
        <p:spPr>
          <a:xfrm>
            <a:off x="571500" y="611209"/>
            <a:ext cx="8572500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Accessibility and Ethical Considerations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428625" y="1116630"/>
            <a:ext cx="4000500" cy="2864644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571500" y="1259505"/>
            <a:ext cx="371475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Inclusive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571500" y="1580973"/>
            <a:ext cx="3714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Linguistic Inclusivity:</a:t>
            </a: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Multi-language support removes barriers for non-native speakers and international students.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571500" y="2381073"/>
            <a:ext cx="3714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Visual Learning:</a:t>
            </a: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Dynamic charts provide an alternative data processing method for visual learners.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571500" y="3181173"/>
            <a:ext cx="3714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User Empowerment:</a:t>
            </a: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Features are designed to make complex data accessible to all student demographics.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4714875" y="1116630"/>
            <a:ext cx="4000500" cy="2864644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571500" y="1580973"/>
            <a:ext cx="6786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571500" y="2381073"/>
            <a:ext cx="6786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571500" y="3181173"/>
            <a:ext cx="6786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4857750" y="1259505"/>
            <a:ext cx="371475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C94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CC94B"/>
                </a:solidFill>
                <a:latin typeface="Inter"/>
                <a:ea typeface="Inter"/>
                <a:cs typeface="Inter"/>
                <a:sym typeface="Inter"/>
              </a:rPr>
              <a:t>Ethical Responsibility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4857750" y="1580973"/>
            <a:ext cx="3714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Data Precision:</a:t>
            </a: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Since data is manually input, the app must be framed as a learning tool, not a scientific instrument.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4857750" y="2381073"/>
            <a:ext cx="3714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Accuracy Awareness:</a:t>
            </a: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Users are encouraged to understand the limitations of manual measurement systems.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4857750" y="3209748"/>
            <a:ext cx="3714750" cy="432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Inter"/>
              <a:buNone/>
            </a:pPr>
            <a:r>
              <a:rPr b="0" i="1" lang="en-US" sz="950" u="none" cap="none" strike="noStrike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rPr>
              <a:t>"Ethical technology use involves transparency about a tool's limitations and its intended educational purpose."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4857750" y="1580973"/>
            <a:ext cx="6786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4857750" y="2381073"/>
            <a:ext cx="6786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6" name="Google Shape;1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1"/>
          <p:cNvSpPr/>
          <p:nvPr/>
        </p:nvSpPr>
        <p:spPr>
          <a:xfrm>
            <a:off x="571500" y="618353"/>
            <a:ext cx="8572500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2B3A42"/>
                </a:solidFill>
                <a:latin typeface="Inter"/>
                <a:ea typeface="Inter"/>
                <a:cs typeface="Inter"/>
                <a:sym typeface="Inter"/>
              </a:rPr>
              <a:t>Strategic Value: Why These Features?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571500" y="1066623"/>
            <a:ext cx="2571750" cy="3243263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685800" y="1195211"/>
            <a:ext cx="2343150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Usability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685800" y="1591689"/>
            <a:ext cx="2343150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705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Visual Feedback:</a:t>
            </a:r>
            <a:r>
              <a:rPr b="0" i="0" lang="en-US" sz="9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Charts make complex data more digestible and engaging for students.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685800" y="2294567"/>
            <a:ext cx="2343150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705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Intuitive Flow:</a:t>
            </a:r>
            <a:r>
              <a:rPr b="0" i="0" lang="en-US" sz="9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Seamless transition from data entry to visualization.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3286125" y="1066623"/>
            <a:ext cx="2571750" cy="3243263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685800" y="1591689"/>
            <a:ext cx="60722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685800" y="2294567"/>
            <a:ext cx="60722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3400425" y="1195211"/>
            <a:ext cx="2343150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Accessibility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3400425" y="1591689"/>
            <a:ext cx="2343150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705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Inclusivity:</a:t>
            </a:r>
            <a:r>
              <a:rPr b="0" i="0" lang="en-US" sz="9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Multi-language support opens the app to a global student body.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3400425" y="2294567"/>
            <a:ext cx="2343150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705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Visual Learning:</a:t>
            </a:r>
            <a:r>
              <a:rPr b="0" i="0" lang="en-US" sz="9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Charts provide an alternative way to process information.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6000750" y="1066623"/>
            <a:ext cx="2571750" cy="3243263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3400425" y="1591689"/>
            <a:ext cx="60722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3400425" y="2294567"/>
            <a:ext cx="60722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6115050" y="1195211"/>
            <a:ext cx="2343150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Educational Value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6115050" y="1591689"/>
            <a:ext cx="2343150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705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Critical Thinking:</a:t>
            </a:r>
            <a:r>
              <a:rPr b="0" i="0" lang="en-US" sz="9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Encourages students to compare predictions with actual data.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6115050" y="2294567"/>
            <a:ext cx="2343150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705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Scientific Analysis:</a:t>
            </a:r>
            <a:r>
              <a:rPr b="0" i="0" lang="en-US" sz="9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Helps in identifying environmental sound patterns.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6115050" y="3040307"/>
            <a:ext cx="2343150" cy="412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50"/>
              <a:buFont typeface="Inter"/>
              <a:buNone/>
            </a:pPr>
            <a:r>
              <a:rPr b="0" i="1" lang="en-US" sz="850" u="none" cap="none" strike="noStrike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rPr>
              <a:t>"These features significantly improve usability, accessibility, and educational value."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6115050" y="1591689"/>
            <a:ext cx="60722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6115050" y="2294567"/>
            <a:ext cx="60722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